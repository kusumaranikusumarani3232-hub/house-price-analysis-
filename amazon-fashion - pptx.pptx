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90" r:id="rId3"/>
    <p:sldId id="291" r:id="rId4"/>
    <p:sldId id="261" r:id="rId5"/>
    <p:sldId id="262" r:id="rId6"/>
    <p:sldId id="263" r:id="rId7"/>
    <p:sldId id="264" r:id="rId8"/>
    <p:sldId id="267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FF7C80"/>
    <a:srgbClr val="00CCFF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5258" autoAdjust="0"/>
  </p:normalViewPr>
  <p:slideViewPr>
    <p:cSldViewPr snapToGrid="0">
      <p:cViewPr varScale="1">
        <p:scale>
          <a:sx n="79" d="100"/>
          <a:sy n="79" d="100"/>
        </p:scale>
        <p:origin x="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41E15-FFBB-4C63-9F99-39B61664D38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B961F-6716-48CC-A2F9-7ACC307A6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15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017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00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520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E035-28EC-8BF4-4DD0-C7F277A44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6BBC4-AD6D-59BF-1E0E-F73542F21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4E377-9070-A4E6-1FCC-F891723FE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C649B-A128-2F8A-0CB4-50B3AD8C3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544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E4214-8DED-71C3-7128-117586F8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00823-480E-1B2E-42C5-68C51DA2A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71860-FE84-F885-ACE4-C9ACFF46C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D5F34-493B-4B01-BC2F-32B6839C3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701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994CE-F662-3C93-63EF-0D66270C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0C351-2A84-7BA2-DA8F-139AC1183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33E2D-2E0F-B17E-ACA1-5DCC2F0C2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52120-8B65-A189-92AC-6EBD58E8B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38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8BCA9-F222-1721-9D5D-74BE0AC5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A2441-7BE7-46B7-D1F2-13E1C1026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31B5C-C711-5B43-6218-FF04DB77E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244A2-1968-5FEE-53FC-FDE6E7B47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270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BF42-DD7B-7E86-58B0-F521E423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5BAAB-160B-3822-43D5-62D3E40CA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42803-4260-AF59-C21F-0A010CF12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C2A20-4882-C2AB-B039-9BFBEFD3A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28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15B3-C527-BBCA-60A1-24B85C38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86FE2-5FCC-7A99-78C9-95C87D540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C8BEE-8594-DD22-76DA-0D9CF692D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6F71-BD46-FBF2-4EBF-70CD4BAEE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315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8ADE1-577A-4953-86A6-56716237B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8CB15-92FB-3985-8278-148431765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4B578-984C-03E5-833E-99060B456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69F9F-A157-1059-24F5-FFAC0F3FC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922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AA159-C860-E191-7D8D-0D865D98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52DDC-0277-23A1-098C-95A3BC04F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42DCD-0191-9079-E6FA-4E8F52C1E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4FE5D-502F-01E0-1890-DEA3D6187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770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F76B5-FA66-7ECD-D280-2DAD096BD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E5F34-B732-F777-8D04-5EE10E097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6A570-1E70-9264-1439-103760D31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C39C3-6829-1DF9-7C81-D813F7689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347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538E6-7C75-9441-CAB0-C99429449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9CC59-9ED3-1E7D-F586-D95C459DE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139BD-568E-A383-2BA4-DC40BCF55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2F42D-3BE5-8136-7E1E-CB5442372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858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53115-974E-A76F-67AC-AF8A1E1F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EB5B6-2715-BFF2-F7F6-4C8E216A9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83A9C-BA2E-8C05-F5D4-34256D01C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151FE-C72C-7B34-18DF-184135659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692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588B5-CAE6-D219-EA69-9F53CDB0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F3879-3E30-C7C1-3A45-3D56952AA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49333-C039-86D0-49A8-15692E98B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91854-A121-CF86-9CBB-9ED62370D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78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0D604-1806-697B-ED25-DE75F3E0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B1C2B-29A9-A553-DE56-1FDB6B352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187C9-377C-886A-4413-94E1AD5B4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CD5AD-4B2F-86F3-DD1B-6116205F6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4296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6E0DC-26A2-DB6B-4EE2-6D8FA7CC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D25BF-16DD-607A-818E-4A3EA7C14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938B2-1C07-6211-DD2D-6F1A6BA4E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989AB-5042-448D-CB24-F387ABB9A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187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6BA59-FD59-BB99-C59B-D4254985A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53975-16C4-AE7E-9864-1ED549724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E9BB6-77E0-743A-7DCA-D40344FA8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2D602-79F8-DBA6-4BE7-80100FE54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B961F-6716-48CC-A2F9-7ACC307A6244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468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2A17-0A8D-7EA4-12CB-81437EF2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F1749-8147-CF25-193F-2312A79B3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570F8-A374-946C-8159-8DD7EEAD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FC832-8BC5-3467-12E5-C6A8323C8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9C7E6-9ABE-F304-3D82-6F215B35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914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7401-92EC-A5E5-37B2-C05D81265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7BBD1-0358-6F17-89C1-DC10C1668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6BE21-3771-1E30-CEEF-321346752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EC1B8-66F0-F90A-ED3F-3B226628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E592F-962A-67B8-5DA9-C74D3E90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048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2799-388D-AC67-FC4E-6B34FB316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493B6-DBB1-A505-870E-635EA1B3B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0DF99-6051-5354-3FA5-886CB8477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818F3-180C-F66C-8B6D-0FF2170A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6A77D-9C26-C32F-CB8A-12E03DD8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05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09A09-1FD9-A90A-4076-4CFD913C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67036-F5F5-63A1-CD05-659DD66BC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037EC-17F3-B1F4-96A5-ED42D118B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2770B-B595-B0E1-E77F-386AEE3BE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11063-5CAF-5D03-373C-E6E16175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BBEAD-A611-DF4D-2A5B-78D9CD9A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82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4DC8-3599-A6D5-5B4A-C7476A5B7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D9B80-A3FB-C2BA-DDCC-D4255F2C9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EEADC-2F5A-D2F4-75B4-F9989781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C53B4-8BC4-D40A-A73D-7B0A25678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12704-63D4-2948-DD41-CC6906400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38888-9FB3-9438-2FFC-411BAD2C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21AB02-0425-24A1-9520-B4EB6757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B603A-E10E-C9E2-9629-7B3E52D1B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6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0CDD-0CB3-8CD0-523E-7A08B9914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7AFF8B-86FE-B5BC-93A4-43276692C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7C880-6824-E499-BCC5-CF7AC5FBC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041DC-F9CE-65CD-6C4F-000BC869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99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ABE48-3859-5052-C810-9586F557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50FB04-D861-2396-21FA-75497EFD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79C0B-1826-8539-3CCA-43C83B932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79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F05FB-4F6A-FE58-FE08-125454FA9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8F505-D827-01BC-82F6-15EAE2FBE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E028E0-21C8-5ADB-CEB0-A63621AE8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2DBE0-1F1F-F12B-95FD-7B0049F2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C6DFA-4F89-EE85-09EF-7E18D6E6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D7C14-B148-3D05-A941-165B7D3F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08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572B-3091-B5D3-2533-8173E94D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FCFF4-888E-8039-B1AB-7DC6D13D8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6AF15-EA0B-8B59-3DB3-5247966B3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4B6D0-F63A-EA4F-FECD-54B90B4B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46368-89EC-2B99-4C5F-EA71605E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5A3DC-36AA-A93A-92E0-FDBFB375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67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F7C63-D556-31CD-7DEE-55EA41BB9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327D3-BA9C-6C9B-1B24-B6BBBF77D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C12B2-EE73-466C-3BE9-D1E99FA88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23F74-EB15-4755-AB8B-354F3974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198BC-0B7C-9711-BDDD-C01FA258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78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0C2AE-B5A2-3539-84D0-CF4A232AB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088D29-35D5-C4A4-1BD9-94518CC56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514EA-2D36-45A9-5866-0F8CB466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0D5CF-0A70-9C75-CA28-50C4F91B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5FCC6-66E0-02CD-89A4-2E598A69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64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61128-2BC4-7AD1-222A-7561456D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1DBD0-7DEF-1FE1-FC65-EDFCB6045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94BB8-EA60-1321-9491-9F81186FB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E0FC0-E6E2-4706-9D1F-60C197C11E8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A8D22-2C02-BC87-EB74-DCD08C73B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BB8FC-81B4-72FC-99ED-0B9AA4520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B082F-D51D-468C-9E11-64686E600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66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E9BB4-C2DD-269E-8242-9909624C3D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BFF85-CEFD-35E4-ABA0-CFCB89FCDD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69A38-5E04-5B9B-4262-BEE498B29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75000"/>
              <a:alpha val="0"/>
            </a:schemeClr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98D668-7D26-5EA9-42C7-40E6BD2C04C9}"/>
              </a:ext>
            </a:extLst>
          </p:cNvPr>
          <p:cNvSpPr txBox="1"/>
          <p:nvPr/>
        </p:nvSpPr>
        <p:spPr>
          <a:xfrm>
            <a:off x="957943" y="4310743"/>
            <a:ext cx="103414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</a:t>
            </a:r>
            <a:r>
              <a:rPr lang="en-US" sz="8000" b="1" dirty="0"/>
              <a:t>Analysis -Machine  </a:t>
            </a:r>
          </a:p>
          <a:p>
            <a:r>
              <a:rPr lang="en-US" sz="8000" b="1" dirty="0"/>
              <a:t>    </a:t>
            </a:r>
            <a:r>
              <a:rPr lang="en-US" sz="8000" b="1"/>
              <a:t>learning project</a:t>
            </a:r>
            <a:endParaRPr lang="en-IN" sz="8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14C67-D4FA-15DB-FE25-8815F828C948}"/>
              </a:ext>
            </a:extLst>
          </p:cNvPr>
          <p:cNvSpPr txBox="1"/>
          <p:nvPr/>
        </p:nvSpPr>
        <p:spPr>
          <a:xfrm>
            <a:off x="8414657" y="2647650"/>
            <a:ext cx="32221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- </a:t>
            </a:r>
            <a:r>
              <a:rPr lang="en-US" sz="9600" b="1" dirty="0"/>
              <a:t>sales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312939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2A80D-6A3D-93DF-9BEF-98664F101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EEF278-99A4-C353-50CB-2FA28F1F3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430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AE7743-3F35-A4C8-35B3-AF8A719C0BFC}"/>
              </a:ext>
            </a:extLst>
          </p:cNvPr>
          <p:cNvSpPr txBox="1"/>
          <p:nvPr/>
        </p:nvSpPr>
        <p:spPr>
          <a:xfrm>
            <a:off x="0" y="242761"/>
            <a:ext cx="12192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</a:rPr>
              <a:t>Data Cleaning (preprocessing)</a:t>
            </a:r>
            <a:r>
              <a:rPr lang="en-US" dirty="0"/>
              <a:t>:</a:t>
            </a:r>
          </a:p>
          <a:p>
            <a:r>
              <a:rPr lang="en-US" dirty="0"/>
              <a:t> </a:t>
            </a:r>
            <a:r>
              <a:rPr lang="en-US" sz="2400" b="1" dirty="0"/>
              <a:t>Data Cleaning is the most important step for Amazon sales Project because it transforms “noisy” raw data into reliable format that  machine learning model can actually easily understand.</a:t>
            </a:r>
          </a:p>
          <a:p>
            <a:r>
              <a:rPr lang="en-US" sz="2400" b="1" dirty="0"/>
              <a:t>Forst step in Data cleaning : </a:t>
            </a:r>
          </a:p>
          <a:p>
            <a:pPr marL="457200" indent="-457200">
              <a:buAutoNum type="arabicPeriod"/>
            </a:pPr>
            <a:r>
              <a:rPr lang="en-US" sz="2400" b="1" dirty="0"/>
              <a:t>Importing  necessary Libraries : </a:t>
            </a:r>
          </a:p>
          <a:p>
            <a:r>
              <a:rPr lang="en-US" sz="2400" b="1" dirty="0"/>
              <a:t>       Pandas , </a:t>
            </a:r>
            <a:r>
              <a:rPr lang="en-US" sz="2400" b="1" dirty="0" err="1"/>
              <a:t>numpy</a:t>
            </a:r>
            <a:r>
              <a:rPr lang="en-US" sz="2400" b="1" dirty="0"/>
              <a:t> , Matplotlib, Seaborn , Warnings.</a:t>
            </a:r>
          </a:p>
          <a:p>
            <a:r>
              <a:rPr lang="en-US" sz="2400" b="1" dirty="0"/>
              <a:t>2. Load s Dataset using pd .read _ csv  format.</a:t>
            </a:r>
          </a:p>
          <a:p>
            <a:r>
              <a:rPr lang="en-US" sz="2400" b="1" dirty="0"/>
              <a:t>3. Using d f . head code to get know top five columns.</a:t>
            </a:r>
          </a:p>
          <a:p>
            <a:r>
              <a:rPr lang="en-US" sz="2400" b="1" dirty="0"/>
              <a:t>4. Using d f . column code to get know names column headings in data set.</a:t>
            </a:r>
          </a:p>
          <a:p>
            <a:r>
              <a:rPr lang="en-US" sz="2400" b="1" dirty="0"/>
              <a:t>5. Using d f .shape code to get know how many columns and rows dataset contain.</a:t>
            </a:r>
          </a:p>
          <a:p>
            <a:r>
              <a:rPr lang="en-US" sz="2400" b="1" dirty="0"/>
              <a:t>6.Using d f. d types code to check columns entire s type ( int ,float ,</a:t>
            </a:r>
            <a:r>
              <a:rPr lang="en-US" sz="2400" b="1" dirty="0" err="1"/>
              <a:t>boolean</a:t>
            </a:r>
            <a:r>
              <a:rPr lang="en-US" sz="2400" b="1" dirty="0"/>
              <a:t>).</a:t>
            </a:r>
          </a:p>
          <a:p>
            <a:r>
              <a:rPr lang="en-US" sz="2400" b="1" dirty="0"/>
              <a:t>7.Handling Missing Values :</a:t>
            </a:r>
          </a:p>
          <a:p>
            <a:r>
              <a:rPr lang="en-US" sz="2400" b="1" dirty="0"/>
              <a:t>    Checking missing values: d f. is null () sum () .</a:t>
            </a:r>
          </a:p>
          <a:p>
            <a:r>
              <a:rPr lang="en-US" sz="2400" b="1" dirty="0"/>
              <a:t>8.Handling Duplicate s:</a:t>
            </a:r>
          </a:p>
          <a:p>
            <a:r>
              <a:rPr lang="en-US" sz="2400" b="1" dirty="0"/>
              <a:t>     d f . drop _ duplicates ( in place = True)</a:t>
            </a:r>
          </a:p>
          <a:p>
            <a:r>
              <a:rPr lang="en-US" sz="2400" b="1" dirty="0"/>
              <a:t>      In this did not contain any duplicate values.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B379D4-D4B4-E9C1-4E7E-5EC0BBABF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7779" y="4557552"/>
            <a:ext cx="1797142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06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07D16-4B63-3B3A-FC9D-1F2A58AD0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AB5B-F963-EAAD-36B7-6A3D652EB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43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09C075-23AE-E7E6-01DA-74BE73C65CE6}"/>
              </a:ext>
            </a:extLst>
          </p:cNvPr>
          <p:cNvSpPr txBox="1"/>
          <p:nvPr/>
        </p:nvSpPr>
        <p:spPr>
          <a:xfrm>
            <a:off x="0" y="-1"/>
            <a:ext cx="12192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FF00"/>
                </a:solidFill>
              </a:rPr>
              <a:t>9. Convert Date Types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Changing order _ date to date time object.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From Date Time object extracting  3 new columns – order _ moth, order _ year ,order Day of Week.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So from I can extract trends 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10.Data info : using  d f .info () checking is new 3 columns created or not .</a:t>
            </a:r>
          </a:p>
          <a:p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</a:rPr>
              <a:t>EDA ( Exploratory Data Analysis ) </a:t>
            </a:r>
            <a:r>
              <a:rPr lang="en-US" sz="2400" b="1" dirty="0"/>
              <a:t>: EDA is used for finding stories in dataset. </a:t>
            </a:r>
          </a:p>
          <a:p>
            <a:r>
              <a:rPr lang="en-US" sz="2400" b="1" dirty="0"/>
              <a:t>EDA is bridge between raw data and a successful machine learning model.</a:t>
            </a:r>
          </a:p>
          <a:p>
            <a:r>
              <a:rPr lang="en-US" sz="2400" b="1" dirty="0"/>
              <a:t>1.Uncovering Hidden Seasonal Patterns .</a:t>
            </a:r>
          </a:p>
          <a:p>
            <a:r>
              <a:rPr lang="en-US" sz="2400" b="1" dirty="0"/>
              <a:t>2.Detecting Anomalies and Outliers</a:t>
            </a:r>
          </a:p>
          <a:p>
            <a:r>
              <a:rPr lang="en-US" sz="2400" b="1" dirty="0"/>
              <a:t>3.Understanding Feature Relationship s</a:t>
            </a:r>
          </a:p>
          <a:p>
            <a:r>
              <a:rPr lang="en-US" sz="2400" b="1" dirty="0"/>
              <a:t>4.Validating Preprocessing Needs.</a:t>
            </a:r>
          </a:p>
          <a:p>
            <a:r>
              <a:rPr lang="en-US" sz="2400" b="1" dirty="0"/>
              <a:t>5.Justifying Business Decision (“ The Story”)</a:t>
            </a:r>
          </a:p>
          <a:p>
            <a:endParaRPr lang="en-US" sz="2400" b="1" dirty="0"/>
          </a:p>
          <a:p>
            <a:r>
              <a:rPr lang="en-US" sz="2400" b="1" dirty="0"/>
              <a:t>EDA give  the flashlight to see where the most important patterns  are hiding.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9477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374EB-160D-0D31-BF25-8D7599CBB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43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BB4FF6-6413-7304-8601-11B2BB8E7ADC}"/>
              </a:ext>
            </a:extLst>
          </p:cNvPr>
          <p:cNvSpPr txBox="1"/>
          <p:nvPr/>
        </p:nvSpPr>
        <p:spPr>
          <a:xfrm>
            <a:off x="152401" y="-66583"/>
            <a:ext cx="794657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CC00CC"/>
                </a:solidFill>
              </a:rPr>
              <a:t>1.Distribution of Total Revenue </a:t>
            </a:r>
            <a:r>
              <a:rPr lang="en-US" sz="2400" b="1" u="sng" dirty="0">
                <a:solidFill>
                  <a:schemeClr val="bg2">
                    <a:lumMod val="10000"/>
                  </a:schemeClr>
                </a:solidFill>
              </a:rPr>
              <a:t>: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This Histogram with KDE has</a:t>
            </a:r>
          </a:p>
          <a:p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x-axis shows total _ revenue (range 0 to 2500)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y-axis shows count of observations (frequency)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Key observation: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The distribution is “right-skewed” (positively </a:t>
            </a:r>
          </a:p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       skewed).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Most revenue values cluster between “ 0 -500”with a peak near 200-300.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Fewer transactions generate revenue above 1000,tapering off to 2500.</a:t>
            </a:r>
          </a:p>
          <a:p>
            <a:pPr algn="just"/>
            <a:r>
              <a:rPr lang="en-IN" sz="2400" b="1" u="sng" dirty="0">
                <a:solidFill>
                  <a:srgbClr val="CC00CC"/>
                </a:solidFill>
              </a:rPr>
              <a:t>Insights :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2">
                    <a:lumMod val="10000"/>
                  </a:schemeClr>
                </a:solidFill>
              </a:rPr>
              <a:t>Majority of sales yield low to moderate revenue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chemeClr val="bg2">
                    <a:lumMod val="10000"/>
                  </a:schemeClr>
                </a:solidFill>
              </a:rPr>
              <a:t>A long tail indicates occasional high value </a:t>
            </a:r>
          </a:p>
          <a:p>
            <a:pPr algn="just"/>
            <a:r>
              <a:rPr lang="en-IN" sz="2400" b="1" dirty="0">
                <a:solidFill>
                  <a:schemeClr val="bg2">
                    <a:lumMod val="10000"/>
                  </a:schemeClr>
                </a:solidFill>
              </a:rPr>
              <a:t>     transactions</a:t>
            </a: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08FAC2F-822C-3F27-E196-4D69AB480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847" y="3523784"/>
            <a:ext cx="4184567" cy="351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577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0DD70-5B2D-B163-4A1F-E910219D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E94AE9-CD1D-4E05-13A3-60FF5D0ED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2192000" cy="704305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944A1BF-64AE-EEB1-CDA3-16DE31A61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806" y="4209520"/>
            <a:ext cx="5560193" cy="283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B9750E-392D-AC09-80C6-DC0491ABD91C}"/>
              </a:ext>
            </a:extLst>
          </p:cNvPr>
          <p:cNvSpPr txBox="1"/>
          <p:nvPr/>
        </p:nvSpPr>
        <p:spPr>
          <a:xfrm>
            <a:off x="-1" y="0"/>
            <a:ext cx="1229146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</a:rPr>
              <a:t>1.Product Category Distribution Analysis:</a:t>
            </a:r>
            <a:r>
              <a:rPr lang="en-US" sz="2400" b="1" dirty="0"/>
              <a:t> This Analysis  shows  which product category appears most often.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Horizontal bar chart showing count of products per category (yellow bars).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Y-axis shows product category(Books ,Sports , Beauty, Electronics, Home &amp; Kitchen).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X-axis shows Count of observations ( 0 to 8,000).</a:t>
            </a:r>
          </a:p>
          <a:p>
            <a:pPr algn="just"/>
            <a:r>
              <a:rPr lang="en-US" sz="2400" b="1" u="sng" dirty="0">
                <a:solidFill>
                  <a:srgbClr val="FFFF00"/>
                </a:solidFill>
              </a:rPr>
              <a:t>Observations: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All six categories have similar counts, ranging 8,000.</a:t>
            </a:r>
          </a:p>
          <a:p>
            <a:pPr algn="just"/>
            <a:r>
              <a:rPr lang="en-US" sz="2400" b="1" dirty="0"/>
              <a:t>Slightly higher count for Home &amp; Kitchen and Electronics.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Uniform distribution indicates balanced  sales  across categories .</a:t>
            </a:r>
          </a:p>
          <a:p>
            <a:pPr algn="just"/>
            <a:r>
              <a:rPr lang="en-US" sz="2400" b="1" u="sng" dirty="0">
                <a:solidFill>
                  <a:srgbClr val="FFFF00"/>
                </a:solidFill>
              </a:rPr>
              <a:t>Insights: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No dominant category suggests diversified product </a:t>
            </a:r>
          </a:p>
          <a:p>
            <a:pPr algn="just"/>
            <a:r>
              <a:rPr lang="en-US" sz="2400" b="1" dirty="0"/>
              <a:t>    demand.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Marketing efforts may be evenly distribution or</a:t>
            </a:r>
          </a:p>
          <a:p>
            <a:pPr algn="just"/>
            <a:r>
              <a:rPr lang="en-US" sz="2400" b="1" dirty="0"/>
              <a:t>     Need focus on under-performing sub-segments</a:t>
            </a:r>
          </a:p>
          <a:p>
            <a:pPr algn="just"/>
            <a:endParaRPr lang="en-US" sz="2400" b="1" dirty="0"/>
          </a:p>
          <a:p>
            <a:pPr algn="just"/>
            <a:endParaRPr lang="en-US" sz="2400" b="1" dirty="0"/>
          </a:p>
          <a:p>
            <a:pPr algn="just"/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107166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7E449-9CDB-995C-DFCB-31B0CB4F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6570DC-E955-AB12-CC74-708677E54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430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39926FC-7B7D-E214-3DEE-C077A3731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205" y="3825424"/>
            <a:ext cx="4645793" cy="3217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89A47A-65F0-3935-8140-ADF07CFB971C}"/>
              </a:ext>
            </a:extLst>
          </p:cNvPr>
          <p:cNvSpPr txBox="1"/>
          <p:nvPr/>
        </p:nvSpPr>
        <p:spPr>
          <a:xfrm>
            <a:off x="-1" y="0"/>
            <a:ext cx="121246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7C80"/>
                </a:solidFill>
              </a:rPr>
              <a:t>2.Distribution of Customer Region Analysis</a:t>
            </a:r>
            <a:r>
              <a:rPr lang="en-US" dirty="0"/>
              <a:t>: </a:t>
            </a:r>
            <a:r>
              <a:rPr lang="en-US" sz="2400" b="1" dirty="0"/>
              <a:t>this analysis  show which Customer Region appears more often . this helps see if data is “ balanced”.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The plot shows the customer count across four regions.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Regions Displayed : North America , Asia, Europe, and Middle East.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All bars are pink and extend approximately 12,000 on the x- axis ,indicating similar customer counts in each region.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The x- axis represent the count of customers ( 0  to 12,000).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The y –axis lists the Customer Region Categories.</a:t>
            </a:r>
          </a:p>
          <a:p>
            <a:endParaRPr lang="en-US" sz="2400" b="1" dirty="0"/>
          </a:p>
          <a:p>
            <a:r>
              <a:rPr lang="en-US" sz="2400" b="1" u="sng" dirty="0">
                <a:solidFill>
                  <a:srgbClr val="FF7C80"/>
                </a:solidFill>
              </a:rPr>
              <a:t>Insights: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Customer Distribution is roughly  uniform across the four</a:t>
            </a:r>
          </a:p>
          <a:p>
            <a:r>
              <a:rPr lang="en-US" sz="2400" b="1" dirty="0"/>
              <a:t>     Regions , with each region having around 12,000 customers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3656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F1A81-5EBD-9A98-43E1-B783F660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2D0CE1-BCFE-7613-8018-D93749BC7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4305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1E14DE7-BE77-8B02-40E6-3EA989999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0" y="2728231"/>
            <a:ext cx="552450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2B1AD-6EF2-576E-0917-07B7EF01B023}"/>
              </a:ext>
            </a:extLst>
          </p:cNvPr>
          <p:cNvSpPr txBox="1"/>
          <p:nvPr/>
        </p:nvSpPr>
        <p:spPr>
          <a:xfrm>
            <a:off x="0" y="0"/>
            <a:ext cx="121920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C00000"/>
                </a:solidFill>
              </a:rPr>
              <a:t>3.Monthly Order Trend Analysis </a:t>
            </a:r>
            <a:r>
              <a:rPr lang="en-US" dirty="0"/>
              <a:t>: </a:t>
            </a:r>
            <a:r>
              <a:rPr lang="en-US" sz="2400" b="1" dirty="0"/>
              <a:t>This Plot shows if the business is growing or shrinking</a:t>
            </a:r>
          </a:p>
          <a:p>
            <a:r>
              <a:rPr lang="en-US" sz="2400" b="1" dirty="0"/>
              <a:t>This horizontal bar chart represent the total revenue for each month.</a:t>
            </a:r>
          </a:p>
          <a:p>
            <a:r>
              <a:rPr lang="en-US" sz="2400" b="1" dirty="0"/>
              <a:t>Y-axis shows “ order month”</a:t>
            </a:r>
          </a:p>
          <a:p>
            <a:r>
              <a:rPr lang="en-US" sz="2400" b="1" dirty="0"/>
              <a:t>X- axis shows “ Total Revenue “</a:t>
            </a:r>
          </a:p>
          <a:p>
            <a:endParaRPr lang="en-IN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60770F-C8D4-3005-6991-0F4BA4952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402567"/>
              </p:ext>
            </p:extLst>
          </p:nvPr>
        </p:nvGraphicFramePr>
        <p:xfrm>
          <a:off x="212825" y="1662939"/>
          <a:ext cx="203948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117">
                  <a:extLst>
                    <a:ext uri="{9D8B030D-6E8A-4147-A177-3AD203B41FA5}">
                      <a16:colId xmlns:a16="http://schemas.microsoft.com/office/drawing/2014/main" val="3296676654"/>
                    </a:ext>
                  </a:extLst>
                </a:gridCol>
                <a:gridCol w="1028370">
                  <a:extLst>
                    <a:ext uri="{9D8B030D-6E8A-4147-A177-3AD203B41FA5}">
                      <a16:colId xmlns:a16="http://schemas.microsoft.com/office/drawing/2014/main" val="2664749495"/>
                    </a:ext>
                  </a:extLst>
                </a:gridCol>
              </a:tblGrid>
              <a:tr h="34633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Month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Revenue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76353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863953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Oct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549638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Nov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426393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May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725293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Mar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389640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Jun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431719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179211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Jan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469006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Feb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30317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Dec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98698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Aug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860586"/>
                  </a:ext>
                </a:extLst>
              </a:tr>
              <a:tr h="346338">
                <a:tc>
                  <a:txBody>
                    <a:bodyPr/>
                    <a:lstStyle/>
                    <a:p>
                      <a:r>
                        <a:rPr lang="en-US" dirty="0"/>
                        <a:t>Apr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156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78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10E0-8B41-22AA-77E6-31DB8B70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F5FE5-A4F6-6D6C-C949-DFD85242A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4305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82FB8B0-EFD7-113D-7A84-C5D780C26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0" y="2728231"/>
            <a:ext cx="552450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28840D-81F3-62D4-D485-8FA9018311D7}"/>
              </a:ext>
            </a:extLst>
          </p:cNvPr>
          <p:cNvSpPr txBox="1"/>
          <p:nvPr/>
        </p:nvSpPr>
        <p:spPr>
          <a:xfrm>
            <a:off x="0" y="0"/>
            <a:ext cx="12192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0000"/>
                </a:solidFill>
              </a:rPr>
              <a:t>Observations: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The plot shows a Steady Increase in revenue from September to April, with the highest revenue in April.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There  is a slight dip December.</a:t>
            </a:r>
          </a:p>
          <a:p>
            <a:pPr algn="just"/>
            <a:endParaRPr lang="en-US" dirty="0"/>
          </a:p>
          <a:p>
            <a:pPr algn="just"/>
            <a:r>
              <a:rPr lang="en-US" sz="2800" b="1" u="sng" dirty="0">
                <a:solidFill>
                  <a:srgbClr val="FF0000"/>
                </a:solidFill>
              </a:rPr>
              <a:t>Insights: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b="1" dirty="0"/>
              <a:t>Growing Demand : The overall upward trend suggests Growing demand for products or services.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b="1" dirty="0"/>
              <a:t>Seasonal Fluctuations : The dip in December might</a:t>
            </a:r>
          </a:p>
          <a:p>
            <a:pPr algn="just"/>
            <a:r>
              <a:rPr lang="en-IN" sz="2400" b="1" dirty="0"/>
              <a:t>    indicate Seasonal Fluctuations in sales.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400" b="1" dirty="0"/>
              <a:t>Opportunity for Improvement : Analysing the </a:t>
            </a:r>
          </a:p>
          <a:p>
            <a:pPr algn="just"/>
            <a:r>
              <a:rPr lang="en-IN" sz="2400" b="1" dirty="0"/>
              <a:t>    December dip could help identify areas for </a:t>
            </a:r>
          </a:p>
          <a:p>
            <a:pPr algn="just"/>
            <a:r>
              <a:rPr lang="en-IN" sz="2400" b="1" dirty="0"/>
              <a:t>    improvement , such as a targeted marketing</a:t>
            </a:r>
          </a:p>
          <a:p>
            <a:pPr algn="just"/>
            <a:r>
              <a:rPr lang="en-IN" sz="2400" b="1" dirty="0"/>
              <a:t>    campaigns or inventory management</a:t>
            </a:r>
            <a:r>
              <a:rPr lang="en-IN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7031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4AFB5-F785-A443-7E76-49182EEC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43AB1-D9E4-326D-3202-E8765F380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430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BB4552D-9389-8237-9EAD-5828952A1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527" y="3734602"/>
            <a:ext cx="4199473" cy="330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A5FBB0-D869-D261-1232-E5C4D062874F}"/>
              </a:ext>
            </a:extLst>
          </p:cNvPr>
          <p:cNvSpPr txBox="1"/>
          <p:nvPr/>
        </p:nvSpPr>
        <p:spPr>
          <a:xfrm rot="10800000" flipH="1" flipV="1">
            <a:off x="-1" y="-1"/>
            <a:ext cx="1219200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u="sng" dirty="0">
                <a:solidFill>
                  <a:srgbClr val="00CCFF"/>
                </a:solidFill>
              </a:rPr>
              <a:t>5.Daily  Order Trend Analysis (Weekly Pattern) </a:t>
            </a:r>
            <a:r>
              <a:rPr lang="en-US" sz="2800" dirty="0"/>
              <a:t>: </a:t>
            </a:r>
            <a:r>
              <a:rPr lang="en-US" sz="2400" b="1" dirty="0"/>
              <a:t>This Analysis  plot shows the Which day is best in week (Highest Orders) and this Helps decide when to offer discounts.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This plot Light blue bar graph with total revenue on the Y-axis and days of the week(Wednesday to Friday) on the X- axis.</a:t>
            </a:r>
          </a:p>
          <a:p>
            <a:pPr algn="just"/>
            <a:r>
              <a:rPr lang="en-US" sz="2400" b="1" dirty="0"/>
              <a:t>  </a:t>
            </a:r>
          </a:p>
          <a:p>
            <a:pPr algn="just"/>
            <a:endParaRPr lang="en-US" sz="2400" b="1" dirty="0"/>
          </a:p>
          <a:p>
            <a:pPr algn="just"/>
            <a:endParaRPr lang="en-US" sz="2400" b="1" dirty="0"/>
          </a:p>
          <a:p>
            <a:pPr algn="just"/>
            <a:endParaRPr lang="en-US" sz="2400" b="1" dirty="0"/>
          </a:p>
          <a:p>
            <a:pPr algn="just"/>
            <a:endParaRPr lang="en-US" sz="2400" b="1" dirty="0"/>
          </a:p>
          <a:p>
            <a:pPr algn="just"/>
            <a:endParaRPr lang="en-US" sz="2400" b="1" dirty="0"/>
          </a:p>
          <a:p>
            <a:pPr algn="just"/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099EF-CE26-6DD9-2AEF-D7C261FCFA75}"/>
              </a:ext>
            </a:extLst>
          </p:cNvPr>
          <p:cNvSpPr txBox="1"/>
          <p:nvPr/>
        </p:nvSpPr>
        <p:spPr>
          <a:xfrm>
            <a:off x="0" y="1886552"/>
            <a:ext cx="12192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00CCFF"/>
                </a:solidFill>
              </a:rPr>
              <a:t>Insights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Increasing Trend : Revenue grows steadily from Wednesday to Friday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Highest Revenue : Friday sees the highest revenue, indicating  a peak shopping day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Actionable Stepes: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Consider promotions or targeted marketing on Thursdays to</a:t>
            </a:r>
          </a:p>
          <a:p>
            <a:r>
              <a:rPr lang="en-US" sz="2400" b="1" dirty="0"/>
              <a:t>     boost revenue.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11449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9860-CB5F-802D-0426-E38AA5D46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2E71C0-DFDB-AAFE-9BD5-A23FBBB5B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305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E887D0D-31DB-8AC3-3F6C-F4C46E3A3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206" y="3414532"/>
            <a:ext cx="4645794" cy="362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090323-FC8C-3120-9A77-7DA16F9ACBE2}"/>
              </a:ext>
            </a:extLst>
          </p:cNvPr>
          <p:cNvSpPr txBox="1"/>
          <p:nvPr/>
        </p:nvSpPr>
        <p:spPr>
          <a:xfrm>
            <a:off x="52939" y="0"/>
            <a:ext cx="12086122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accent4">
                    <a:lumMod val="75000"/>
                  </a:schemeClr>
                </a:solidFill>
              </a:rPr>
              <a:t>6.Yearly Order Trend Analysis :</a:t>
            </a:r>
          </a:p>
          <a:p>
            <a:endParaRPr lang="en-US" b="1" u="sng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Orange bar graph showing revenue increase from  2022 to 2023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X- axis shows Years ( 2022,2023)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Y- axis shows Revenue (0.0 to 1.6)</a:t>
            </a:r>
          </a:p>
          <a:p>
            <a:endParaRPr lang="en-IN" dirty="0"/>
          </a:p>
          <a:p>
            <a:r>
              <a:rPr lang="en-IN" sz="2800" b="1" u="sng" dirty="0"/>
              <a:t>Insights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Revenue Growth : steady increase in revenue from 2022 to 2023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Positive  Trend : indicates growing demand for products </a:t>
            </a:r>
          </a:p>
          <a:p>
            <a:r>
              <a:rPr lang="en-IN" sz="2400" b="1" dirty="0"/>
              <a:t>    or services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034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399EE-5760-3D6A-27B7-3C65B9550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C27752-DFD7-09F3-0FE5-373554957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30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68A25D-9C2E-A717-158A-656D7DE6D658}"/>
              </a:ext>
            </a:extLst>
          </p:cNvPr>
          <p:cNvSpPr txBox="1"/>
          <p:nvPr/>
        </p:nvSpPr>
        <p:spPr>
          <a:xfrm>
            <a:off x="52939" y="0"/>
            <a:ext cx="12086122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u="sng" dirty="0"/>
              <a:t>Category Vs Revenue Analysis </a:t>
            </a:r>
            <a:r>
              <a:rPr lang="en-US" dirty="0"/>
              <a:t>: </a:t>
            </a:r>
            <a:r>
              <a:rPr lang="en-US" sz="2400" b="1" dirty="0"/>
              <a:t>this Boxplot shows average revenue per category , and “spread” of  outliers (items).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This boxplot title as “ revenue spread per category “ has  6 item categories ( Books, Fashion , Sports, Beauty , Electronics , and Home &amp; kitchen .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the gold color boxes represent the interquartile range (IQR), showing where the middle 50% of revenue data lies for each category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The line inside each box indicates the median revenue.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Whiskers extend to show the overall spread, excluding outliers.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Outliers are marked with individual  points</a:t>
            </a:r>
          </a:p>
          <a:p>
            <a:pPr algn="just"/>
            <a:r>
              <a:rPr lang="en-US" sz="2400" b="1" dirty="0"/>
              <a:t>     above whisker.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Insights :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Sports and Fashion shows a relatively higher</a:t>
            </a:r>
          </a:p>
          <a:p>
            <a:pPr algn="just"/>
            <a:r>
              <a:rPr lang="en-US" sz="2400" b="1" dirty="0"/>
              <a:t>Median revenue compared to other categories.</a:t>
            </a:r>
          </a:p>
          <a:p>
            <a:pPr algn="just"/>
            <a:endParaRPr lang="en-IN" sz="24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37EF311-CF63-82C8-4341-BF4E7C31B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352" y="3917483"/>
            <a:ext cx="5603709" cy="301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28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DD852-8083-D491-F53C-73F49A0A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C0461C-5F09-A9AA-044F-526CB0A0D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30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209751-2166-55D8-2ACF-124A3169326F}"/>
              </a:ext>
            </a:extLst>
          </p:cNvPr>
          <p:cNvSpPr txBox="1"/>
          <p:nvPr/>
        </p:nvSpPr>
        <p:spPr>
          <a:xfrm>
            <a:off x="52939" y="0"/>
            <a:ext cx="1208612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Books and Electronics exhibit a broader revenue Spread (larger IQR)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All Categories have outliers indicating occasional high-revenue transactions.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Beauty and Home &amp; Kitchen have tighter revenue distributions.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800" b="1" u="sng" dirty="0">
                <a:solidFill>
                  <a:schemeClr val="accent4">
                    <a:lumMod val="75000"/>
                  </a:schemeClr>
                </a:solidFill>
              </a:rPr>
              <a:t>Action : 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Focus marketing efforts on high – median categories like Sports &amp; Fashion.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Monitor categories with wide Spreads ( Books , Electronics) for risk management 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Optimize inventory and promotions based on revenue consistency ( IQR size).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r>
              <a:rPr lang="en-IN" sz="2400" b="1" dirty="0"/>
              <a:t>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BAB7C15-79A9-D5CF-80FC-2DE537A1B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352" y="3917483"/>
            <a:ext cx="5603709" cy="301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770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D3D34-7AA2-9685-7643-22C710F6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56FDAB-EF1E-9137-16FF-F50908590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30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8E455E5-055C-CE12-9C33-916D98A6D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748" y="3780945"/>
            <a:ext cx="6099252" cy="326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EE0085-F23B-7E56-CFD4-0ECE16999A4E}"/>
              </a:ext>
            </a:extLst>
          </p:cNvPr>
          <p:cNvSpPr txBox="1"/>
          <p:nvPr/>
        </p:nvSpPr>
        <p:spPr>
          <a:xfrm>
            <a:off x="-3252" y="0"/>
            <a:ext cx="12192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8.Price Vs Quantity Sold Analysis : </a:t>
            </a:r>
            <a:r>
              <a:rPr lang="en-US" sz="2400" b="1" dirty="0"/>
              <a:t>this plot shows do people actually buy  more when the price is lower or higher .</a:t>
            </a:r>
          </a:p>
          <a:p>
            <a:pPr algn="just"/>
            <a:r>
              <a:rPr lang="en-US" sz="2400" b="1" dirty="0"/>
              <a:t>This Scatter with error bars (reg plot) Analysis the relationship between product price  and quantity  sold  to understand demand elasticity 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X-axis shows Price ( 0 to 500 units).</a:t>
            </a:r>
          </a:p>
          <a:p>
            <a:pPr algn="just"/>
            <a:r>
              <a:rPr lang="en-US" sz="2400" b="1" dirty="0"/>
              <a:t>Y- axis shows Quantity Sold (2.900 to 3.075 units).</a:t>
            </a:r>
          </a:p>
          <a:p>
            <a:pPr algn="just"/>
            <a:r>
              <a:rPr lang="en-US" sz="2400" b="1" dirty="0"/>
              <a:t>Green Line : linear regression showing a slight positive trend between price and quantity.</a:t>
            </a:r>
          </a:p>
          <a:p>
            <a:pPr algn="just"/>
            <a:r>
              <a:rPr lang="en-US" sz="2400" b="1" dirty="0"/>
              <a:t>Vertical Green Bars : shows error margins indicating variability in quantity sold at each price point.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Insights : </a:t>
            </a:r>
          </a:p>
          <a:p>
            <a:pPr algn="just"/>
            <a:r>
              <a:rPr lang="en-US" sz="2400" b="1" dirty="0"/>
              <a:t> the Regression line suggests a weak positive</a:t>
            </a:r>
          </a:p>
          <a:p>
            <a:pPr algn="just"/>
            <a:r>
              <a:rPr lang="en-US" sz="2400" b="1" dirty="0"/>
              <a:t>  correlation – quantity sold increases marginally</a:t>
            </a:r>
          </a:p>
          <a:p>
            <a:pPr algn="just"/>
            <a:r>
              <a:rPr lang="en-US" sz="2400" b="1" dirty="0"/>
              <a:t>Error bars indicating high variability ,implying</a:t>
            </a:r>
          </a:p>
          <a:p>
            <a:pPr algn="just"/>
            <a:r>
              <a:rPr lang="en-US" sz="2400" b="1" dirty="0"/>
              <a:t>  other factors may influence sales more than</a:t>
            </a:r>
          </a:p>
          <a:p>
            <a:pPr algn="just"/>
            <a:r>
              <a:rPr lang="en-US" sz="2400" b="1" dirty="0"/>
              <a:t>  price alone.</a:t>
            </a:r>
          </a:p>
          <a:p>
            <a:pPr algn="just"/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142542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8178D-1CA6-7A1B-AE5B-2A25D487E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FCD994-CAF5-0D8A-FD1B-CF11FC5B7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30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C8207C2-F204-321B-16F8-5009ADB2E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748" y="3780945"/>
            <a:ext cx="6099252" cy="326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1458F7-22E2-6F45-70AA-D007783592B7}"/>
              </a:ext>
            </a:extLst>
          </p:cNvPr>
          <p:cNvSpPr txBox="1"/>
          <p:nvPr/>
        </p:nvSpPr>
        <p:spPr>
          <a:xfrm>
            <a:off x="-3252" y="0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Demand appears inelastic with in the observed price range.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The Regression Line .ignores the individual dots and shows the Vector the line slope up , it proves that as price increases , quantity sold too increases .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Pricing Strategy may need refinement ; focus on value – added features or market segmentation.</a:t>
            </a:r>
          </a:p>
          <a:p>
            <a:pPr algn="just"/>
            <a:endParaRPr lang="en-US" sz="2400" b="1" dirty="0"/>
          </a:p>
          <a:p>
            <a:pPr algn="just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89497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4A76-BB2E-A368-F4A7-808DBAB2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E373EB-F4E8-6A8D-73CD-5E70D8FCA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305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C2F3F72-44E4-FC57-D717-4EE7F893D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429" y="4177364"/>
            <a:ext cx="6751571" cy="2865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729C34-0E23-909E-F0D3-19CC57D30F09}"/>
              </a:ext>
            </a:extLst>
          </p:cNvPr>
          <p:cNvSpPr txBox="1"/>
          <p:nvPr/>
        </p:nvSpPr>
        <p:spPr>
          <a:xfrm>
            <a:off x="0" y="0"/>
            <a:ext cx="1219200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FF00"/>
                </a:solidFill>
              </a:rPr>
              <a:t>9.Discount Vs ratings Analysis</a:t>
            </a:r>
            <a:r>
              <a:rPr lang="en-US" sz="2400" b="1" dirty="0"/>
              <a:t>: this analysis shows answer to this questions Do Higher discounts lead to better ratings or does a high discount make a product feel cheap leading to lower ratings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Distribution of Discount across different Customer Ratings.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Analysis discount percentage trends with  respect to customer rating scores.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Understand how discount percentages are allocated based on customer ratings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This boxplot displays percentage on y –axis (0-30%) and Customer rating on the x –axis (1.0 to 5.0 in increments).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Each colored bar represents a specific rating </a:t>
            </a:r>
            <a:r>
              <a:rPr lang="en-US" sz="2400" b="1" dirty="0" err="1"/>
              <a:t>inteeval</a:t>
            </a:r>
            <a:r>
              <a:rPr lang="en-US" sz="2400" b="1" dirty="0"/>
              <a:t> , split into two segments (likely showing two discount tier or components).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Observation : Discount percentages appear relatively uniform across all ratings values, suggesting a consistence discount</a:t>
            </a:r>
          </a:p>
          <a:p>
            <a:pPr algn="just"/>
            <a:r>
              <a:rPr lang="en-US" sz="2400" b="1" dirty="0"/>
              <a:t>     policy irrespectively of rating.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800" b="1" u="sng" dirty="0">
                <a:solidFill>
                  <a:srgbClr val="FFFF00"/>
                </a:solidFill>
              </a:rPr>
              <a:t>Insights 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The discount structure does not heavily</a:t>
            </a:r>
          </a:p>
          <a:p>
            <a:pPr algn="just"/>
            <a:r>
              <a:rPr lang="en-US" sz="2400" b="1" dirty="0"/>
              <a:t>     favor high or low ratings ;the distribution</a:t>
            </a:r>
          </a:p>
          <a:p>
            <a:pPr algn="just"/>
            <a:r>
              <a:rPr lang="en-US" sz="2400" b="1" dirty="0"/>
              <a:t>     is balanced.</a:t>
            </a:r>
          </a:p>
          <a:p>
            <a:pPr algn="just"/>
            <a:endParaRPr lang="en-US" sz="2400" b="1" dirty="0"/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36239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5FE7-CD70-6C99-1962-E7CA67713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0396BF-623C-C9FB-96A3-C535E5212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305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2E530F42-BC01-321A-7A27-23C615BAD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429" y="4177364"/>
            <a:ext cx="6751571" cy="2865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2B0B85-B43C-A77D-87BA-A1C529674AAE}"/>
              </a:ext>
            </a:extLst>
          </p:cNvPr>
          <p:cNvSpPr txBox="1"/>
          <p:nvPr/>
        </p:nvSpPr>
        <p:spPr>
          <a:xfrm>
            <a:off x="0" y="0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Marketing can focus on overall discount promotions rather than rating-specific incentives.</a:t>
            </a:r>
          </a:p>
          <a:p>
            <a:pPr algn="just"/>
            <a:r>
              <a:rPr lang="en-US" sz="2400" b="1" dirty="0"/>
              <a:t>Monitor customer feedback to assess perceived fairness of the discount policy.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Summary : the discount distribution is even across customer ratings , indicating a non-differentiated discount strategy.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332038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2402F-B858-2DD4-E2E6-165B204BC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F6B12-1646-8CFC-FF1D-3ED6AB712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305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F88A40F-93E6-A7CB-2A9A-3BB4D00FD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275" y="3706705"/>
            <a:ext cx="4725725" cy="333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D196E4-97B0-5A71-823F-E40107A224C7}"/>
              </a:ext>
            </a:extLst>
          </p:cNvPr>
          <p:cNvSpPr txBox="1"/>
          <p:nvPr/>
        </p:nvSpPr>
        <p:spPr>
          <a:xfrm>
            <a:off x="0" y="-169694"/>
            <a:ext cx="12088633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10.Monthly Seasonality : </a:t>
            </a:r>
            <a:r>
              <a:rPr lang="en-US" sz="2400" b="1" dirty="0"/>
              <a:t>this heatmap shows which month- day combination is the “ Golden Window” for sales.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/>
              <a:t>Analysis monthly revenue performance across weekdays to identify high and low-earning days.</a:t>
            </a:r>
          </a:p>
          <a:p>
            <a:pPr algn="just"/>
            <a:r>
              <a:rPr lang="en-IN" sz="24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Observations: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/>
              <a:t>Darker blue cells indicate higher revenue lighter shades shows lower revenue.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/>
              <a:t>Peak revenue months appear in January and December with strong Tuesday &amp; Wednesday sales.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/>
              <a:t>Sunday generally shows moderate to low revenue across most months.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/>
              <a:t>Tuesday and Wednesday are the highest – earnings weekdays overall.</a:t>
            </a:r>
          </a:p>
          <a:p>
            <a:pPr algn="just"/>
            <a:endParaRPr lang="en-IN" sz="2400" b="1" dirty="0"/>
          </a:p>
          <a:p>
            <a:pPr algn="just"/>
            <a:r>
              <a:rPr lang="en-IN" sz="24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Insights :</a:t>
            </a:r>
          </a:p>
          <a:p>
            <a:pPr algn="just"/>
            <a:endParaRPr lang="en-IN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/>
              <a:t>Focus marketing and promotions on Tuesday &amp;</a:t>
            </a:r>
          </a:p>
          <a:p>
            <a:pPr algn="just"/>
            <a:r>
              <a:rPr lang="en-IN" sz="2400" b="1" dirty="0"/>
              <a:t>     Wednesdays to boost mid – week sales.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/>
              <a:t>Investigate  reasons for low Sunday performance</a:t>
            </a:r>
          </a:p>
          <a:p>
            <a:pPr algn="just"/>
            <a:r>
              <a:rPr lang="en-IN" sz="2400" b="1" dirty="0"/>
              <a:t>    And consider weekend Strategies.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IN" sz="2400" b="1" dirty="0"/>
          </a:p>
          <a:p>
            <a:pPr algn="just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90533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F052-921E-4FBF-BDAF-5F153AEE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E93B4-30A5-3F93-D9DB-443D82785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4305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089B8D0-2FD1-9581-1577-FBE24195D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275" y="3706705"/>
            <a:ext cx="4725725" cy="333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5D216C-8EFC-6414-1ECD-C433793895AE}"/>
              </a:ext>
            </a:extLst>
          </p:cNvPr>
          <p:cNvSpPr txBox="1"/>
          <p:nvPr/>
        </p:nvSpPr>
        <p:spPr>
          <a:xfrm>
            <a:off x="12915" y="0"/>
            <a:ext cx="1206543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Seasonal Spikes ( ex : Dec – Jan ) suggest holiday – driven revenue patterns.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Action plans:</a:t>
            </a:r>
          </a:p>
          <a:p>
            <a:endParaRPr lang="en-US" sz="2800" b="1" u="sng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Allocate resources to optimize weekday operations on high-revenue days.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Run targeted campaign in low – performing months  or days to balance revenue.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Monitor weekly trends to adjust inventory and staffing  accordingly</a:t>
            </a:r>
          </a:p>
        </p:txBody>
      </p:sp>
    </p:spTree>
    <p:extLst>
      <p:ext uri="{BB962C8B-B14F-4D97-AF65-F5344CB8AC3E}">
        <p14:creationId xmlns:p14="http://schemas.microsoft.com/office/powerpoint/2010/main" val="355997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AFA4A-BD39-C616-1B47-88D5EBD46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9FEE0-A351-DA33-8B10-A76F90596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2F494DC-6053-DCD8-19A3-5C3E21D24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908" y="2889512"/>
            <a:ext cx="4603512" cy="4153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728B36-23F1-145D-9DA6-7B7D40354BEF}"/>
              </a:ext>
            </a:extLst>
          </p:cNvPr>
          <p:cNvSpPr txBox="1"/>
          <p:nvPr/>
        </p:nvSpPr>
        <p:spPr>
          <a:xfrm>
            <a:off x="-9579" y="0"/>
            <a:ext cx="12182420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11.The  Heatmap ( Correlation Matrix ) </a:t>
            </a:r>
            <a:r>
              <a:rPr lang="en-US" dirty="0"/>
              <a:t>:</a:t>
            </a:r>
            <a:r>
              <a:rPr lang="en-US" sz="2400" b="1" dirty="0"/>
              <a:t>it shows how every numerical column relates to every other column.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Purpose : understand relationship s between business features ( order _ id ,product _ id , price, discount _ percent , quantity _ sold , rating ,review _ count , discounted _ price , total _ revenue).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Correlation Matrix Explanation: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Scale -1(negative correlation) to +1 (positive correlation).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Color legend : blue means negative ,read means positive,</a:t>
            </a:r>
          </a:p>
          <a:p>
            <a:pPr algn="just"/>
            <a:r>
              <a:rPr lang="en-US" sz="2400" b="1" dirty="0"/>
              <a:t>     intensity shows strength.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Observation: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Price  to discount _ price : strong positive correlation 0.97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Discount price closely follows original price.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Discount _ price to total _ revenue : high positive         </a:t>
            </a:r>
          </a:p>
          <a:p>
            <a:pPr algn="just"/>
            <a:r>
              <a:rPr lang="en-US" sz="2400" b="1" dirty="0"/>
              <a:t>     correlation 0.73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Revenue driven by discount price.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Price to total _ revenue : moderate positive correlation</a:t>
            </a:r>
          </a:p>
          <a:p>
            <a:pPr algn="just"/>
            <a:r>
              <a:rPr lang="en-US" sz="2400" b="1" dirty="0"/>
              <a:t>      0.71 higher price boosts revenue</a:t>
            </a:r>
          </a:p>
          <a:p>
            <a:pPr algn="just"/>
            <a:endParaRPr lang="en-US" sz="2400" b="1" dirty="0"/>
          </a:p>
          <a:p>
            <a:pPr algn="just"/>
            <a:endParaRPr lang="en-US" sz="2400" b="1" dirty="0"/>
          </a:p>
          <a:p>
            <a:r>
              <a:rPr lang="en-IN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5444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4379D-D5BE-9D72-D0FA-1E694104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2CE1E3-EAFE-BE2F-4098-4C8F90D61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654AF18-8DD1-C438-9A48-4509E81F8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908" y="2889512"/>
            <a:ext cx="4603512" cy="4153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E500F9-0400-001C-B041-F94D012B5E4A}"/>
              </a:ext>
            </a:extLst>
          </p:cNvPr>
          <p:cNvSpPr txBox="1"/>
          <p:nvPr/>
        </p:nvSpPr>
        <p:spPr>
          <a:xfrm>
            <a:off x="-9579" y="0"/>
            <a:ext cx="1218242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11.The  Heatmap ( Correlation Matrix ) </a:t>
            </a:r>
            <a:r>
              <a:rPr lang="en-US" dirty="0"/>
              <a:t>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Quantity _ sold to total _ revenue : positive correlation 0.59 ,sales volume impacts revenue.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Discount _ percent to total _ revenue : weak negative correlation -20 ,higher  discount slightly reduces revenue.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Rating &amp; review – count : near – zero correlations with most variables ,minimal direct impact on revenue.</a:t>
            </a:r>
          </a:p>
          <a:p>
            <a:endParaRPr lang="en-US" sz="2400" b="1" dirty="0"/>
          </a:p>
          <a:p>
            <a:r>
              <a:rPr lang="en-US" sz="2400" b="1" u="sng" dirty="0">
                <a:solidFill>
                  <a:srgbClr val="FF0000"/>
                </a:solidFill>
              </a:rPr>
              <a:t>Implications 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Focus pricing &amp; discount strategies to optimize discount _ </a:t>
            </a:r>
          </a:p>
          <a:p>
            <a:pPr algn="just"/>
            <a:r>
              <a:rPr lang="en-US" sz="2400" b="1" dirty="0"/>
              <a:t>     Price for revenue.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Monitor quantity _ sold to boost revenue.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Ratings have little linear effect on sales metrics.</a:t>
            </a:r>
          </a:p>
          <a:p>
            <a:pPr algn="just"/>
            <a:r>
              <a:rPr lang="en-US" sz="2400" b="1" u="sng" dirty="0">
                <a:solidFill>
                  <a:srgbClr val="FF0000"/>
                </a:solidFill>
              </a:rPr>
              <a:t>Summary 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Strong price  - revenue linkage ; discounts need</a:t>
            </a:r>
          </a:p>
          <a:p>
            <a:pPr algn="just"/>
            <a:r>
              <a:rPr lang="en-US" sz="2400" b="1" dirty="0"/>
              <a:t>    optimization.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05918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1E90-C532-3AB9-1C7C-C63B930D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686ED0-F439-ABF2-A41D-703C1020E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4B8498-22E8-1A65-3586-C81ED3C44183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922A44-B115-E28D-59A6-B11626996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102" y="4047816"/>
            <a:ext cx="6029739" cy="299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2CE4F4-9B21-28F7-2FA1-F094961D4F8F}"/>
              </a:ext>
            </a:extLst>
          </p:cNvPr>
          <p:cNvSpPr txBox="1"/>
          <p:nvPr/>
        </p:nvSpPr>
        <p:spPr>
          <a:xfrm>
            <a:off x="19159" y="0"/>
            <a:ext cx="12112487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12.Total Revenue  Analysis by Region and Category  : </a:t>
            </a:r>
            <a:r>
              <a:rPr lang="en-US" sz="2400" b="1" dirty="0"/>
              <a:t>(Break down of revenue in millions of Euros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This bar graph shows total revenue across regions ( Asia, Europe , Middle East , and north America) and product categories ( Beauty , Books , Electronics , Fashion , Home  &amp; kitchen , and sports).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Revenue is measured in millions of euros.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u="sng" dirty="0">
                <a:solidFill>
                  <a:srgbClr val="92D050"/>
                </a:solidFill>
              </a:rPr>
              <a:t>Insights :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Europe leads in  total revenue , driven by Electronics and Fashion.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Asia shows strong performance in Electronics and Beauty.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North America has significant revenue from</a:t>
            </a:r>
          </a:p>
          <a:p>
            <a:pPr algn="just"/>
            <a:r>
              <a:rPr lang="en-US" sz="2400" b="1" dirty="0"/>
              <a:t>     Electronics and Home &amp; Kitchen.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Middle East lower overall revenue , with </a:t>
            </a:r>
          </a:p>
          <a:p>
            <a:pPr algn="just"/>
            <a:r>
              <a:rPr lang="en-US" sz="2400" b="1" dirty="0"/>
              <a:t>Fashion leading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Sports and electronics are top – performing</a:t>
            </a:r>
          </a:p>
          <a:p>
            <a:pPr algn="just"/>
            <a:r>
              <a:rPr lang="en-US" sz="2400" b="1" dirty="0"/>
              <a:t>     Categories globally.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Books have relatively lower revenue across </a:t>
            </a:r>
          </a:p>
          <a:p>
            <a:pPr algn="just"/>
            <a:r>
              <a:rPr lang="en-US" sz="2400" b="1" dirty="0"/>
              <a:t>    All regions.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096669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37BF-30D9-1AA4-5514-F4BE94EE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E22930-6ECA-2B2A-0FF4-D5E8DA9B0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E1FC3E-1F55-5154-CD50-50A96E368844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5D1EA0-B058-4987-4D38-67B5887AA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102" y="4047816"/>
            <a:ext cx="6029739" cy="299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67535A-AE8D-84E9-BA73-74C6717250E2}"/>
              </a:ext>
            </a:extLst>
          </p:cNvPr>
          <p:cNvSpPr txBox="1"/>
          <p:nvPr/>
        </p:nvSpPr>
        <p:spPr>
          <a:xfrm>
            <a:off x="19159" y="0"/>
            <a:ext cx="12112487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12.Total Revenue  Analysis by Region and Category  :</a:t>
            </a:r>
          </a:p>
          <a:p>
            <a:pPr algn="just"/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 category analysis: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Electronics : Top revenue contributor globally.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Fashion : strong in Europe and Middle East.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Beauty : performs well in Asia and Europe.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Sports : consistent revenue across regions.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r>
              <a:rPr lang="en-US" sz="2400" b="1" u="sng" dirty="0">
                <a:solidFill>
                  <a:srgbClr val="92D050"/>
                </a:solidFill>
              </a:rPr>
              <a:t>Recommendations: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Focus on growing Electronics and Fashion in high – performing regions.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Explore opportunities in Asia for Beauty and Sports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Address lower revenue in Books through</a:t>
            </a:r>
          </a:p>
          <a:p>
            <a:pPr algn="just"/>
            <a:r>
              <a:rPr lang="en-US" sz="2400" b="1" dirty="0"/>
              <a:t>     targeted strategies.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r>
              <a:rPr lang="en-US" sz="2400" b="1" u="sng" dirty="0">
                <a:solidFill>
                  <a:srgbClr val="92D050"/>
                </a:solidFill>
              </a:rPr>
              <a:t>Summary :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Regional and Category – Specific strategies can</a:t>
            </a:r>
          </a:p>
          <a:p>
            <a:pPr algn="just"/>
            <a:r>
              <a:rPr lang="en-US" sz="2400" b="1" dirty="0"/>
              <a:t>     Optimize revenue.</a:t>
            </a:r>
          </a:p>
          <a:p>
            <a:pPr algn="just"/>
            <a:endParaRPr lang="en-US" sz="2400" b="1" dirty="0"/>
          </a:p>
          <a:p>
            <a:pPr algn="just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94507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618D6-D507-0A89-5E4B-994A1895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5C2522-2F3B-F37E-901D-385DAF611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F0335B-ABBA-B697-E222-AAF3B8CABD50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F9746EC-99F4-9287-40DF-B6041813B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567" y="4928050"/>
            <a:ext cx="6664433" cy="211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5AB6B1-EF18-9B5D-7DE0-BB3491B05820}"/>
              </a:ext>
            </a:extLst>
          </p:cNvPr>
          <p:cNvSpPr txBox="1"/>
          <p:nvPr/>
        </p:nvSpPr>
        <p:spPr>
          <a:xfrm>
            <a:off x="19159" y="0"/>
            <a:ext cx="12153682" cy="960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BCCE-461B-AF87-D7D7-68B47765E03F}"/>
              </a:ext>
            </a:extLst>
          </p:cNvPr>
          <p:cNvSpPr txBox="1"/>
          <p:nvPr/>
        </p:nvSpPr>
        <p:spPr>
          <a:xfrm>
            <a:off x="0" y="0"/>
            <a:ext cx="12153682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u="sng" dirty="0">
                <a:solidFill>
                  <a:srgbClr val="FF7C80"/>
                </a:solidFill>
              </a:rPr>
              <a:t>13.Revenue Trends by Region Analyzing (Yearly ,Monthly ,and Weekly Revenue Patterns) : </a:t>
            </a:r>
            <a:r>
              <a:rPr lang="en-US" sz="2400" b="1" dirty="0"/>
              <a:t>this plots shows total revenue trends for different regions over time.</a:t>
            </a:r>
          </a:p>
          <a:p>
            <a:pPr algn="just"/>
            <a:r>
              <a:rPr lang="en-US" sz="2400" b="1" dirty="0"/>
              <a:t>Yearly, Monthly , and Weekly trends are shown, highlighting variations in revenue.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u="sng" dirty="0">
                <a:solidFill>
                  <a:srgbClr val="FF7C80"/>
                </a:solidFill>
              </a:rPr>
              <a:t>Insights: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Customer region shows a steady increase in revenue overtime.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Other regions exhibit fluctuations, with some experiencing declines or  plateaus.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Seasonal patterns may be influencing monthly and weekly trends.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u="sng" dirty="0">
                <a:solidFill>
                  <a:srgbClr val="FF7C80"/>
                </a:solidFill>
              </a:rPr>
              <a:t>Regional Performance: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Focus on Customer Regions growth, exploring drivers behind the steady increase.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Investigate declines or slowdowns in other regions for targeted strategies.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u="sng" dirty="0">
                <a:solidFill>
                  <a:srgbClr val="FF7C80"/>
                </a:solidFill>
              </a:rPr>
              <a:t>Recommendations:</a:t>
            </a:r>
            <a:endParaRPr lang="en-IN" sz="2400" b="1" u="sng" dirty="0">
              <a:solidFill>
                <a:srgbClr val="FF7C8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/>
              <a:t>Leverage growth in Customer Region with </a:t>
            </a:r>
          </a:p>
          <a:p>
            <a:pPr algn="just"/>
            <a:r>
              <a:rPr lang="en-IN" sz="2400" b="1" dirty="0"/>
              <a:t>     targeted marketing.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/>
              <a:t>Develop strategies to boost revenue in</a:t>
            </a:r>
          </a:p>
          <a:p>
            <a:pPr algn="just"/>
            <a:r>
              <a:rPr lang="en-IN" sz="2400" b="1" dirty="0"/>
              <a:t>     underperforming regions</a:t>
            </a:r>
          </a:p>
          <a:p>
            <a:pPr algn="just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32454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879A6-A49D-3FA3-E19A-169772FB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06ABF1-A87A-C1AF-DA69-BBB078F86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1EC05-ABB4-6BC6-B973-E50DF9007A0B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1D117-C133-B0E6-7E6A-01E76F41F03A}"/>
              </a:ext>
            </a:extLst>
          </p:cNvPr>
          <p:cNvSpPr txBox="1"/>
          <p:nvPr/>
        </p:nvSpPr>
        <p:spPr>
          <a:xfrm>
            <a:off x="19159" y="0"/>
            <a:ext cx="12153682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66FF66"/>
                </a:solidFill>
              </a:rPr>
              <a:t>1.Linear Regression (The Baseline):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I Run this model first as a “sanity check”.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Why I am Using it : It is very fast and easy to explain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It gives you simple coefficient for every feature ( for example  : “for every $1 increase in Price , revenue increases by $X”).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Model building: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Importing necessary scikit libraries 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Data Preparation : preparing features (x) , target(y)(total _ revenue).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Drop the order _ date , unique id (order _ id) which don’t help in prediction.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b="1" dirty="0"/>
              <a:t>Apply Label Encoder to Categorical columns(data) (model needs numbers , not word) applying on categorical columns (product _ category, customer _ region , payment _ method, order _ month , order Day of Week).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Data split : split data  into(80%) training and testing(20%) set .</a:t>
            </a:r>
          </a:p>
          <a:p>
            <a:r>
              <a:rPr lang="en-US" sz="2400" b="1" dirty="0"/>
              <a:t>Checking  training and testing sets , of features and  target sets.(by using shape function).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BA0510-456F-72BD-7704-0431185F93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26" y="3162897"/>
            <a:ext cx="10550954" cy="72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59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966AC-AAD9-1E19-4C32-8B70E39E4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6B42AD-D1C3-04C9-A0DD-BE099BF8F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325054-684C-7FFB-4F62-F555D11C0D9C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78556-8626-157C-1005-71F0F5C12BAF}"/>
              </a:ext>
            </a:extLst>
          </p:cNvPr>
          <p:cNvSpPr txBox="1"/>
          <p:nvPr/>
        </p:nvSpPr>
        <p:spPr>
          <a:xfrm>
            <a:off x="19159" y="0"/>
            <a:ext cx="12153682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66FF66"/>
                </a:solidFill>
              </a:rPr>
              <a:t>1.Linear Regression model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I Run this model first as a “sanity check”.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Why I am Using it : It is very fast and easy to explain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It gives you simple coefficient for every feature ( for example  : “for every $1 increase in Price , revenue increases by $X”).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Importing Libraries: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Linear Regression : Model for fitting a linear relationship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Standard Scaler: standardize features by removing mean &amp; scaling to unit variance.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Data Preprocessing – Scaling: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Fit Scaler on training data &amp; apply it to both train &amp; test sets.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Avoids data leakage by using transform for test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Model Training: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Instantiate a linear regression object.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Train the model on scaled training features and labels.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b="1" dirty="0"/>
          </a:p>
          <a:p>
            <a:endParaRPr lang="en-US" sz="2800" b="1" u="sng" dirty="0">
              <a:solidFill>
                <a:srgbClr val="66FF6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52852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35557-3F16-0C28-E41E-068A7BD99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642A0-45F9-10D3-408F-0706122AF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F2A06A-9520-0132-4FEB-C1A0781E648B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D5FC3A-4291-3D6D-4852-9C8FEE8D77E0}"/>
              </a:ext>
            </a:extLst>
          </p:cNvPr>
          <p:cNvSpPr txBox="1"/>
          <p:nvPr/>
        </p:nvSpPr>
        <p:spPr>
          <a:xfrm>
            <a:off x="19159" y="0"/>
            <a:ext cx="12153682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66FF66"/>
                </a:solidFill>
              </a:rPr>
              <a:t>Model Predication</a:t>
            </a:r>
            <a:r>
              <a:rPr lang="en-US" sz="2400" b="1" dirty="0">
                <a:solidFill>
                  <a:srgbClr val="66FF66"/>
                </a:solidFill>
              </a:rPr>
              <a:t>: </a:t>
            </a:r>
            <a:r>
              <a:rPr lang="en-US" sz="2400" b="1" dirty="0"/>
              <a:t>use the trained model to predict on scaled test features.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Model Evaluation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Metrics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R2 Score : indicates model fit ( closer to 1 is better).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MAE : mean absolute error – average magnitude of errors.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MSE : mean squared error – average of squared errors.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RMSE : root mean squared error  - square root of MSE.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Results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R2 Score : 0.8778 ( good fit).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MAE : 133.63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MSE : 33121.95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RMSE : 181.99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Interpretation : model explains – 87.8% variance ; error metrics indicate prediction accuracy.</a:t>
            </a:r>
          </a:p>
          <a:p>
            <a:endParaRPr lang="en-US" sz="2800" b="1" u="sng" dirty="0">
              <a:solidFill>
                <a:srgbClr val="66FF6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06373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12DEF-26A3-D0E9-F156-9A3749F89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D0D56-61B6-4EEF-F96F-8E8B5309E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8EC7E9-2CCA-5CF5-BF7D-D9FB494C9AB3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B79772-6944-3AE4-93D1-7CA72D9D57E4}"/>
              </a:ext>
            </a:extLst>
          </p:cNvPr>
          <p:cNvSpPr txBox="1"/>
          <p:nvPr/>
        </p:nvSpPr>
        <p:spPr>
          <a:xfrm>
            <a:off x="19159" y="0"/>
            <a:ext cx="1215368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FF00"/>
                </a:solidFill>
              </a:rPr>
              <a:t>2.XG Boosting Model Importance</a:t>
            </a:r>
            <a:r>
              <a:rPr lang="en-US" sz="2400" b="1" dirty="0"/>
              <a:t>: </a:t>
            </a:r>
          </a:p>
          <a:p>
            <a:pPr algn="just"/>
            <a:r>
              <a:rPr lang="en-US" sz="2400" b="1" dirty="0"/>
              <a:t>XG boosting model is great choice for this dataset because of several reasons that align with its strengths:</a:t>
            </a:r>
          </a:p>
          <a:p>
            <a:pPr algn="just"/>
            <a:r>
              <a:rPr lang="en-US" sz="2400" b="1" dirty="0"/>
              <a:t>1.Handling Large Data Set : this data modern sized having 50,000 entries and 16 columns, so X g boosting handles this dataset efficiently due to its optimized computational performance.</a:t>
            </a:r>
          </a:p>
          <a:p>
            <a:pPr algn="just"/>
            <a:r>
              <a:rPr lang="en-US" sz="2400" b="1" dirty="0"/>
              <a:t>2.Mixed Data types :The data set contains a mix of numeric ( int ,float ) and categorical/object columns(example product _ category , customer _ region , payment _ method).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 XG Boost can work with numeric features directly and can handle encoded categorical features well, making it versatile for this type of data.</a:t>
            </a:r>
          </a:p>
          <a:p>
            <a:pPr algn="just"/>
            <a:r>
              <a:rPr lang="en-US" sz="2400" b="1" dirty="0"/>
              <a:t>3.Robust to missing values : XG Boost has built – in handling for missing data </a:t>
            </a:r>
          </a:p>
          <a:p>
            <a:pPr algn="just"/>
            <a:r>
              <a:rPr lang="en-US" sz="2400" b="1" dirty="0"/>
              <a:t>4.High Predictive Performance : XG Boost is known for its strong performance in structured data tasks like regression or classification due to its gradient boosting framework and regularization options</a:t>
            </a:r>
          </a:p>
          <a:p>
            <a:pPr algn="just"/>
            <a:r>
              <a:rPr lang="en-US" sz="2400" b="1" dirty="0"/>
              <a:t>5.Feature Importance : XG Boost provides insights into feature importance, helping you understand which columns ( example Price , discount _ percent , order Day of Week) drive predications.</a:t>
            </a:r>
          </a:p>
          <a:p>
            <a:pPr algn="just"/>
            <a:r>
              <a:rPr lang="en-US" sz="2400" b="1" dirty="0"/>
              <a:t>6.Speed &amp; Scalability : its parallelized implementation makes training fast, which is beneficial for iterative model tuning on a dataset of this size.</a:t>
            </a:r>
          </a:p>
        </p:txBody>
      </p:sp>
    </p:spTree>
    <p:extLst>
      <p:ext uri="{BB962C8B-B14F-4D97-AF65-F5344CB8AC3E}">
        <p14:creationId xmlns:p14="http://schemas.microsoft.com/office/powerpoint/2010/main" val="266771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FA4E3-6798-4755-2FD2-08B8F919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2E4F55-206B-323C-594B-86D2B9C42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0A3A27-0DE8-A3E1-B1C3-6F490B16FD8E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2EB81F-4BF8-AE74-A97B-7782FA645FC1}"/>
              </a:ext>
            </a:extLst>
          </p:cNvPr>
          <p:cNvSpPr txBox="1"/>
          <p:nvPr/>
        </p:nvSpPr>
        <p:spPr>
          <a:xfrm>
            <a:off x="19159" y="0"/>
            <a:ext cx="1215368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</a:rPr>
              <a:t>2.XG Boost Regression model Implementation: </a:t>
            </a:r>
          </a:p>
          <a:p>
            <a:endParaRPr lang="en-US" sz="2400" b="1" dirty="0"/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Importing XG Boost from scikit Libraries.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Model setup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XG B Regressor : Gradient boosting regression model form XG Boost library.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Parameters: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n _ estimators = 100 : Number of boosting round / trees.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Learning _ rate = 0.1 : step size shrinkage to prevent overfitting.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Max _ depth = 5 : Maximum tree depth for  each tree.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Model Training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Fitting the model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Fit () : Trains the XG Boost model on training data x _ train ( features) and y _ train ( target).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Objective : Minimize predication error on the training 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Prediction &amp; Evaluation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Making Predication &amp; Evaluating 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Predict () : Generates predictions on test data x _ test.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95383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5FA56-B688-1BD3-6EB5-82CD8DB00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C8EE67-4422-5552-E4C5-66E4A2EEA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1D484E-AC7F-89DA-80CB-222C0EAB9D1B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F93022-E36D-CD62-FE68-6745EF653A1C}"/>
              </a:ext>
            </a:extLst>
          </p:cNvPr>
          <p:cNvSpPr txBox="1"/>
          <p:nvPr/>
        </p:nvSpPr>
        <p:spPr>
          <a:xfrm>
            <a:off x="132448" y="178024"/>
            <a:ext cx="12153682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FF00"/>
                </a:solidFill>
              </a:rPr>
              <a:t>Metrics 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/>
              <a:t>R2 Score </a:t>
            </a:r>
            <a:r>
              <a:rPr lang="en-US" sz="2400" b="1" dirty="0"/>
              <a:t>: Measures how well the model explains variance in the data (0 – 1, closer to 1 better).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/>
              <a:t>MAE</a:t>
            </a:r>
            <a:r>
              <a:rPr lang="en-US" sz="2400" b="1" dirty="0"/>
              <a:t>( mean absolute Error) : Average absolute difference between actual and predicted values.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/>
              <a:t>MSE</a:t>
            </a:r>
            <a:r>
              <a:rPr lang="en-US" sz="2400" b="1" dirty="0"/>
              <a:t>( mean squared error )  : Average of squared differences ( penalizes large errors).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/>
              <a:t>RMSE</a:t>
            </a:r>
            <a:r>
              <a:rPr lang="en-US" sz="2400" b="1" dirty="0"/>
              <a:t> ( root mean squared error) : Square root of MSE ; interprets error in the same units as the target.</a:t>
            </a:r>
          </a:p>
          <a:p>
            <a:r>
              <a:rPr lang="en-US" sz="2800" b="1" u="sng" dirty="0">
                <a:solidFill>
                  <a:srgbClr val="FFFF00"/>
                </a:solidFill>
              </a:rPr>
              <a:t>Results 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/>
              <a:t>R2 Score </a:t>
            </a:r>
            <a:r>
              <a:rPr lang="en-US" sz="2400" b="1" dirty="0"/>
              <a:t>: 0.9999391994581474 -&gt; model explains 99.99% of variance ( very good fit).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/>
              <a:t>MAE : </a:t>
            </a:r>
            <a:r>
              <a:rPr lang="en-US" sz="2400" b="1" dirty="0"/>
              <a:t>3.05493596141815 -&gt; Average error of – 3.05 units.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/>
              <a:t>MSE :</a:t>
            </a:r>
            <a:r>
              <a:rPr lang="en-US" sz="2400" b="1" dirty="0"/>
              <a:t> 16.485545383516676 -&gt; Squared error magnitude.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/>
              <a:t>RMSE : </a:t>
            </a:r>
            <a:r>
              <a:rPr lang="en-US" sz="2400" b="1" dirty="0"/>
              <a:t>4.0602395721824935 -&gt; typical prediction error of -4.06 units.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/>
              <a:t>Summary</a:t>
            </a:r>
            <a:r>
              <a:rPr lang="en-US" sz="2400" b="1" dirty="0"/>
              <a:t> : The high R2 and low error values indicate a strong predictive model.</a:t>
            </a:r>
          </a:p>
        </p:txBody>
      </p:sp>
    </p:spTree>
    <p:extLst>
      <p:ext uri="{BB962C8B-B14F-4D97-AF65-F5344CB8AC3E}">
        <p14:creationId xmlns:p14="http://schemas.microsoft.com/office/powerpoint/2010/main" val="1192165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FDF16-B9E7-1A5B-FCD2-3F9883BB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DFC2F9-80B2-AA58-01DB-4C343CAFA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DF479B-D099-A6C8-91F9-7B34B43F9F20}"/>
              </a:ext>
            </a:extLst>
          </p:cNvPr>
          <p:cNvSpPr txBox="1"/>
          <p:nvPr/>
        </p:nvSpPr>
        <p:spPr>
          <a:xfrm>
            <a:off x="-9580" y="0"/>
            <a:ext cx="12192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</a:rPr>
              <a:t>3.Random Forest Regression Model  Importance :</a:t>
            </a:r>
          </a:p>
          <a:p>
            <a:r>
              <a:rPr lang="en-US" sz="2400" b="1" dirty="0"/>
              <a:t> the random forest regression model is good fit for this data set because of several Characteristics that make it suitable for  complex , mixed – type data.</a:t>
            </a:r>
          </a:p>
          <a:p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1.Handling Mixed Data types :  numeric ( int , float ) and categorical ( object ) columns. Random forest can process both numerical and categorical features with out needing extensive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Preprocessing like one – hot encoding.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2.Non – Linear relationship : The model captures non – linear interactions between features ( example : price , discount _ percent , quantity _ sold) and the target ( total _ revenue), which is useful  when the relationship is not simple linear regression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3.Robustness to overfitting : with 50,000 records and many features , random forest reduce overfitting by averaging multiple decision trees, giving more stable predictions.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4.Feature Importance : It provides insight into which variables ( example : price , customer _ region) drive the target ( total _ revenue), helping us understand business drives.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/>
              <a:t>5. Handling large data sets: The model scales reasonably well with 50,000 entries and cab manage the memory usage ( 5.5 + MB) efficiently.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045595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5C452-288F-4F99-C3E2-133A7FF2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4104AD-C21C-57B8-B4C8-B3DCF9A55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554550-B278-69E9-C27C-9319014B3A59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9B3462-26FF-87BF-7383-19F06ECF7341}"/>
              </a:ext>
            </a:extLst>
          </p:cNvPr>
          <p:cNvSpPr txBox="1"/>
          <p:nvPr/>
        </p:nvSpPr>
        <p:spPr>
          <a:xfrm>
            <a:off x="19159" y="0"/>
            <a:ext cx="12153682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FF00"/>
                </a:solidFill>
              </a:rPr>
              <a:t>3.Random Forest Regression Model Building 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Import random forest Regressor (ensemble method) from scikit library.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Model Implementation: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Model initialization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Training: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N _ estimators = 100 : 100 decision tress in the forest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random _ state = 42 : ensures reproducibility.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Prediction &amp; Evaluation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Prediction on test data: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Evaluation metrics 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R2Score : measures model fit (0.999998271862167).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MAE ( Mean Absolute Error) : 0.13001842999999788.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MSE(Mean Squared Error) : 0.046856974946997636.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RMSE(Root MSE): 0.21646471986676635.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Interpretation: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High R2 (=1) indicates excellent fit on test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Low MAE/MSE/RMSE suggest accurate predictions.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24700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47C9D-7B91-0AB9-C520-6EE910A0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B88E5-1222-A967-4B76-AE86F1601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8" y="5535"/>
            <a:ext cx="12182419" cy="703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9A245F-8C29-510C-88C7-ADF605061934}"/>
              </a:ext>
            </a:extLst>
          </p:cNvPr>
          <p:cNvSpPr txBox="1"/>
          <p:nvPr/>
        </p:nvSpPr>
        <p:spPr>
          <a:xfrm>
            <a:off x="-9579" y="0"/>
            <a:ext cx="12182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algn="just"/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99D58D-5A64-24C1-601B-7D87344354CC}"/>
              </a:ext>
            </a:extLst>
          </p:cNvPr>
          <p:cNvSpPr txBox="1"/>
          <p:nvPr/>
        </p:nvSpPr>
        <p:spPr>
          <a:xfrm>
            <a:off x="19159" y="0"/>
            <a:ext cx="12153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2ADB4-ABE4-74B9-3EF6-BE311B7A8426}"/>
              </a:ext>
            </a:extLst>
          </p:cNvPr>
          <p:cNvSpPr txBox="1"/>
          <p:nvPr/>
        </p:nvSpPr>
        <p:spPr>
          <a:xfrm>
            <a:off x="760096" y="5114166"/>
            <a:ext cx="11393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C00000"/>
                </a:solidFill>
              </a:rPr>
              <a:t>Thankyou </a:t>
            </a:r>
            <a:endParaRPr lang="en-IN" sz="9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570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3614</Words>
  <Application>Microsoft Office PowerPoint</Application>
  <PresentationFormat>Widescreen</PresentationFormat>
  <Paragraphs>433</Paragraphs>
  <Slides>32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 kusumarani</dc:creator>
  <cp:lastModifiedBy>jana kusumarani</cp:lastModifiedBy>
  <cp:revision>19</cp:revision>
  <dcterms:created xsi:type="dcterms:W3CDTF">2026-02-20T05:30:24Z</dcterms:created>
  <dcterms:modified xsi:type="dcterms:W3CDTF">2026-04-10T16:34:21Z</dcterms:modified>
</cp:coreProperties>
</file>